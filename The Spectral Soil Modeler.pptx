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Inter"/>
      <p:regular r:id="rId17"/>
      <p:bold r:id="rId18"/>
      <p:italic r:id="rId19"/>
      <p:boldItalic r:id="rId20"/>
    </p:embeddedFont>
    <p:embeddedFont>
      <p:font typeface="Space Grotesk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6.xml"/><Relationship Id="rId22" Type="http://schemas.openxmlformats.org/officeDocument/2006/relationships/font" Target="fonts/SpaceGrotesk-bold.fntdata"/><Relationship Id="rId10" Type="http://schemas.openxmlformats.org/officeDocument/2006/relationships/slide" Target="slides/slide5.xml"/><Relationship Id="rId21" Type="http://schemas.openxmlformats.org/officeDocument/2006/relationships/font" Target="fonts/SpaceGrotesk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-italic.fntdata"/><Relationship Id="rId6" Type="http://schemas.openxmlformats.org/officeDocument/2006/relationships/slide" Target="slides/slide1.xml"/><Relationship Id="rId18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3.png"/><Relationship Id="rId8" Type="http://schemas.openxmlformats.org/officeDocument/2006/relationships/image" Target="../media/image1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10" Type="http://schemas.openxmlformats.org/officeDocument/2006/relationships/image" Target="../media/image32.png"/><Relationship Id="rId9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21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11" Type="http://schemas.openxmlformats.org/officeDocument/2006/relationships/image" Target="../media/image38.jpg"/><Relationship Id="rId10" Type="http://schemas.openxmlformats.org/officeDocument/2006/relationships/image" Target="../media/image40.jpg"/><Relationship Id="rId12" Type="http://schemas.openxmlformats.org/officeDocument/2006/relationships/image" Target="../media/image41.jpg"/><Relationship Id="rId9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3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3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33.png"/><Relationship Id="rId5" Type="http://schemas.openxmlformats.org/officeDocument/2006/relationships/image" Target="../media/image4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9.jpg"/><Relationship Id="rId6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3300" y="1047750"/>
            <a:ext cx="42672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1092696"/>
            <a:ext cx="6720840" cy="188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REPORT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1376511"/>
            <a:ext cx="6720840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</a:t>
            </a:r>
            <a:r>
              <a:rPr b="1" i="0" lang="en-US" sz="540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Spectral</a:t>
            </a:r>
            <a:r>
              <a:rPr b="1" i="0" lang="en-US" sz="540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 Soil Modeler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113633"/>
            <a:ext cx="64008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 Automated Machine Learning Workflow for Soil Spectroscopy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5368974"/>
            <a:ext cx="64008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Course: Software Systems Development | Instructor: Abhishek Singh | Team 01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3300" y="1047750"/>
            <a:ext cx="42672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800100" y="4225974"/>
            <a:ext cx="290036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Akshat Kotadia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071937" y="4225974"/>
            <a:ext cx="290036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Jewel Joseph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800100" y="4559349"/>
            <a:ext cx="290036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Gaurav Patel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4071937" y="4559349"/>
            <a:ext cx="290036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Parv Shah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800100" y="4892724"/>
            <a:ext cx="290036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Eshwar Pingili</a:t>
            </a:r>
            <a:endParaRPr/>
          </a:p>
        </p:txBody>
      </p:sp>
      <p:pic>
        <p:nvPicPr>
          <p:cNvPr descr="image.png" id="96" name="Google Shape;9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45024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43337" y="4245024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78399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43337" y="4578399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911774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 Automated Machine Learning Workflow for Soil Spectroscopy&#10; scientists using a laptop with a sample of soil" id="101" name="Google Shape;101;p13"/>
          <p:cNvPicPr preferRelativeResize="0"/>
          <p:nvPr/>
        </p:nvPicPr>
        <p:blipFill rotWithShape="1">
          <a:blip r:embed="rId8">
            <a:alphaModFix/>
          </a:blip>
          <a:srcRect b="0" l="0" r="17532" t="0"/>
          <a:stretch/>
        </p:blipFill>
        <p:spPr>
          <a:xfrm>
            <a:off x="6835150" y="-18275"/>
            <a:ext cx="5655675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34319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571500" y="1911548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Problem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71500" y="2395388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Developing predictive models for soil properties (like Clay, Sand, or Organic Carbon) is currently a manual, labor-intensive process.</a:t>
            </a:r>
            <a:endParaRPr/>
          </a:p>
        </p:txBody>
      </p:sp>
      <p:pic>
        <p:nvPicPr>
          <p:cNvPr id="110" name="Google Shape;110;p14"/>
          <p:cNvPicPr preferRelativeResize="0"/>
          <p:nvPr/>
        </p:nvPicPr>
        <p:blipFill rotWithShape="1">
          <a:blip r:embed="rId5">
            <a:alphaModFix/>
          </a:blip>
          <a:srcRect b="27272" l="0" r="0" t="0"/>
          <a:stretch/>
        </p:blipFill>
        <p:spPr>
          <a:xfrm>
            <a:off x="6381750" y="1934319"/>
            <a:ext cx="5238749" cy="3810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657225" y="3500288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62000" y="3500288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Researchers must manually test every combination of preprocessing techniques and algorithms.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57225" y="4252763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762000" y="4252763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Human error susceptibility increases with repetitive tasks.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57225" y="5005238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762000" y="5005238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Significant time lost on routine configuration rather than analysis.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Bottleneck in Soil Research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10858500" y="6524625"/>
            <a:ext cx="10477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762000" y="1298376"/>
            <a:ext cx="4800600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Solution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62000" y="1928812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One-Click Automation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62000" y="2568773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built a robust web application that automates the entire lifecycle of model creation.</a:t>
            </a:r>
            <a:endParaRPr/>
          </a:p>
        </p:txBody>
      </p:sp>
      <p:pic>
        <p:nvPicPr>
          <p:cNvPr id="128" name="Google Shape;128;p15" title="Architecture -  old.png"/>
          <p:cNvPicPr preferRelativeResize="0"/>
          <p:nvPr/>
        </p:nvPicPr>
        <p:blipFill rotWithShape="1">
          <a:blip r:embed="rId4">
            <a:alphaModFix/>
          </a:blip>
          <a:srcRect b="1465" l="0" r="0" t="1465"/>
          <a:stretch/>
        </p:blipFill>
        <p:spPr>
          <a:xfrm>
            <a:off x="6096000" y="0"/>
            <a:ext cx="6096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762000" y="3845123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Key Capabilities: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847725" y="4340423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952500" y="4340423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Automated Data Ingestion &amp; Preprocessing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47725" y="4740473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52500" y="4740473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Hyperparameter Tuning (GridSearchCV)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47725" y="5140523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952500" y="5140523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Interactive Visualization Dashboard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51608"/>
            <a:ext cx="3492400" cy="43509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151608"/>
            <a:ext cx="3492549" cy="43509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151608"/>
            <a:ext cx="3492400" cy="435099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571500" y="1404937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 specialized monolithic architecture designed for research stability and speed.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446883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866775" y="3399383"/>
            <a:ext cx="304694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Space Grotesk"/>
                <a:ea typeface="Space Grotesk"/>
                <a:cs typeface="Space Grotesk"/>
                <a:sym typeface="Space Grotesk"/>
              </a:rPr>
              <a:t>Monolithic Streamlit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66775" y="3883223"/>
            <a:ext cx="290185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Shifted from FastAPI/Microservices to a unified Streamlit application. This simplifies state management for long-running ML tasks and reduces overhead.</a:t>
            </a:r>
            <a:endParaRPr/>
          </a:p>
        </p:txBody>
      </p:sp>
      <p:pic>
        <p:nvPicPr>
          <p:cNvPr descr="image.png" id="148" name="Google Shape;14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4925" y="2446883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4644925" y="3399383"/>
            <a:ext cx="3047099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Space Grotesk"/>
                <a:ea typeface="Space Grotesk"/>
                <a:cs typeface="Space Grotesk"/>
                <a:sym typeface="Space Grotesk"/>
              </a:rPr>
              <a:t>MongoDB Atlas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4644925" y="3883223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Secure, cloud-based storage for user authentication (bcrypt hashing) and potential future session metadata storage.</a:t>
            </a:r>
            <a:endParaRPr/>
          </a:p>
        </p:txBody>
      </p:sp>
      <p:pic>
        <p:nvPicPr>
          <p:cNvPr descr="image.png" id="151" name="Google Shape;15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3225" y="2446883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8423225" y="3399383"/>
            <a:ext cx="304694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Space Grotesk"/>
                <a:ea typeface="Space Grotesk"/>
                <a:cs typeface="Space Grotesk"/>
                <a:sym typeface="Space Grotesk"/>
              </a:rPr>
              <a:t>ML Engine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423225" y="3883223"/>
            <a:ext cx="29018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Powered by Scikit-learn and Cubist. Handles complex pipelines including PLSR, GBRT, KRR, and SVR with nested cross-validation.</a:t>
            </a:r>
            <a:endParaRPr/>
          </a:p>
        </p:txBody>
      </p:sp>
      <p:pic>
        <p:nvPicPr>
          <p:cNvPr descr="image.png" id="154" name="Google Shape;15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263738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59238" y="2637383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13725" y="263738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762000" y="355401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Architecture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571500" y="355401"/>
            <a:ext cx="57150" cy="43993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10829925" y="6524625"/>
            <a:ext cx="10763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Architecture Details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97622"/>
            <a:ext cx="2541240" cy="1645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7419" y="3597622"/>
            <a:ext cx="2541240" cy="1645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3339" y="3597622"/>
            <a:ext cx="2541240" cy="1401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9259" y="3597622"/>
            <a:ext cx="2541240" cy="140196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/>
          <p:nvPr/>
        </p:nvSpPr>
        <p:spPr>
          <a:xfrm>
            <a:off x="571500" y="4058542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1727745" y="3178522"/>
            <a:ext cx="228600" cy="2286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4563665" y="3178522"/>
            <a:ext cx="228600" cy="2286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7399585" y="3178522"/>
            <a:ext cx="228600" cy="2286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10235505" y="3178522"/>
            <a:ext cx="228600" cy="2286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717995" y="3797647"/>
            <a:ext cx="224824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Ingestion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771525" y="4159597"/>
            <a:ext cx="214119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Upload CSV/XLS. Auto-detection of features and target variables.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3553915" y="3797647"/>
            <a:ext cx="224824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Preprocessing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3607444" y="4159597"/>
            <a:ext cx="214119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Applies strategies: Reflectance, Absorbance, Continuum Removal.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389835" y="3797647"/>
            <a:ext cx="224824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Modeling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6443364" y="4159597"/>
            <a:ext cx="214119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Trains 5 models: PLSR, Cubist, GBRT, KRR, SVR.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9225755" y="3797647"/>
            <a:ext cx="224824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Space Grotesk"/>
                <a:ea typeface="Space Grotesk"/>
                <a:cs typeface="Space Grotesk"/>
                <a:sym typeface="Space Grotesk"/>
              </a:rPr>
              <a:t>4. Tuning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9279284" y="4159597"/>
            <a:ext cx="214119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5-Fold Cross-Validation with nested GridSearchCV.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Automated Pipeline</a:t>
            </a:r>
            <a:endParaRPr/>
          </a:p>
        </p:txBody>
      </p:sp>
      <p:sp>
        <p:nvSpPr>
          <p:cNvPr id="183" name="Google Shape;183;p17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11201400" y="6524625"/>
            <a:ext cx="7048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Methodology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92435"/>
            <a:ext cx="3492400" cy="48940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1392435"/>
            <a:ext cx="3492549" cy="48940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1392435"/>
            <a:ext cx="3492400" cy="48940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1687710"/>
            <a:ext cx="29018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4925" y="1687710"/>
            <a:ext cx="29019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225" y="1687710"/>
            <a:ext cx="29018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794228" y="3783210"/>
            <a:ext cx="304694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Space Grotesk"/>
                <a:ea typeface="Space Grotesk"/>
                <a:cs typeface="Space Grotesk"/>
                <a:sym typeface="Space Grotesk"/>
              </a:rPr>
              <a:t>Secure Login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866775" y="4228951"/>
            <a:ext cx="29018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MongoDB-backed authentication ensures user data security and session persistence.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4572375" y="3783210"/>
            <a:ext cx="3047099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Training Hub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4644925" y="4228951"/>
            <a:ext cx="290199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Intuitive sidebar for uploading data, selecting targets, and monitoring training progress.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8350679" y="3783210"/>
            <a:ext cx="304694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Results Dashboard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8423225" y="4228951"/>
            <a:ext cx="29018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Leaderboards, download options for model artifacts, and detailed diagnostic plots.</a:t>
            </a:r>
            <a:endParaRPr/>
          </a:p>
        </p:txBody>
      </p:sp>
      <p:pic>
        <p:nvPicPr>
          <p:cNvPr id="202" name="Google Shape;202;p18" title="Login_page.jpg"/>
          <p:cNvPicPr preferRelativeResize="0"/>
          <p:nvPr/>
        </p:nvPicPr>
        <p:blipFill rotWithShape="1">
          <a:blip r:embed="rId10">
            <a:alphaModFix/>
          </a:blip>
          <a:srcRect b="0" l="11873" r="11866" t="0"/>
          <a:stretch/>
        </p:blipFill>
        <p:spPr>
          <a:xfrm>
            <a:off x="866775" y="1687710"/>
            <a:ext cx="2901852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8" title="training_ models.jpg"/>
          <p:cNvPicPr preferRelativeResize="0"/>
          <p:nvPr/>
        </p:nvPicPr>
        <p:blipFill rotWithShape="1">
          <a:blip r:embed="rId11">
            <a:alphaModFix/>
          </a:blip>
          <a:srcRect b="0" l="28370" r="6694" t="0"/>
          <a:stretch/>
        </p:blipFill>
        <p:spPr>
          <a:xfrm>
            <a:off x="4644925" y="1687710"/>
            <a:ext cx="2902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8" title="prediction_ graph.jpg"/>
          <p:cNvPicPr preferRelativeResize="0"/>
          <p:nvPr/>
        </p:nvPicPr>
        <p:blipFill rotWithShape="1">
          <a:blip r:embed="rId12">
            <a:alphaModFix/>
          </a:blip>
          <a:srcRect b="0" l="19844" r="10181" t="0"/>
          <a:stretch/>
        </p:blipFill>
        <p:spPr>
          <a:xfrm>
            <a:off x="8423225" y="1687710"/>
            <a:ext cx="2901852" cy="1905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8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 Interface Walkthrough</a:t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11287125" y="6524625"/>
            <a:ext cx="6191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UI Features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21348"/>
            <a:ext cx="5238750" cy="102483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9"/>
          <p:cNvSpPr txBox="1"/>
          <p:nvPr/>
        </p:nvSpPr>
        <p:spPr>
          <a:xfrm>
            <a:off x="571500" y="2532608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Space Grotesk"/>
                <a:ea typeface="Space Grotesk"/>
                <a:cs typeface="Space Grotesk"/>
                <a:sym typeface="Space Grotesk"/>
              </a:rPr>
              <a:t>Hyperparameter Tuning Strategy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571500" y="3016448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integrated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GridSearchCV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inside the cross-validation loop. This ensures tuning happens only on the training set of each fold.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6381750" y="2087760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Cubist Challenge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6381750" y="2571601"/>
            <a:ext cx="52387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third-party Cubist library was incompatible with Scikit-learn's parallel processing (n_jobs=-1), causing crashes.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800100" y="4311848"/>
            <a:ext cx="4819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Prevents data leakage.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800100" y="4681388"/>
            <a:ext cx="4819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Provides realistic performance estimates.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6381750" y="3686026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Fix: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6381750" y="4181326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Implemented a dedicated sequential grid search block strictly for Cubist models within the orchestration layer, maintaining system stability without sacrificing model performance.</a:t>
            </a:r>
            <a:endParaRPr/>
          </a:p>
        </p:txBody>
      </p:sp>
      <p:pic>
        <p:nvPicPr>
          <p:cNvPr descr="image.png" id="222" name="Google Shape;22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" y="4359473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100" y="47290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Technical Deep Dive</a:t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 txBox="1"/>
          <p:nvPr/>
        </p:nvSpPr>
        <p:spPr>
          <a:xfrm>
            <a:off x="10668000" y="6524625"/>
            <a:ext cx="12382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Implementation Details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92435"/>
            <a:ext cx="11049000" cy="4894064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571500" y="203641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Comparison of top performing pipeline combinations based on R-Squared (    R   2   ) metric.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571500" y="5436840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* Note: Values represent optimal test cases. Cubist models typically outperform PLSR in non-linear soil property prediction.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 Performance Leaderboard</a:t>
            </a: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11039475" y="6524625"/>
            <a:ext cx="8667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Results Analysis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72444"/>
            <a:ext cx="5238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title="prediction_ graph.jpg"/>
          <p:cNvPicPr preferRelativeResize="0"/>
          <p:nvPr/>
        </p:nvPicPr>
        <p:blipFill rotWithShape="1">
          <a:blip r:embed="rId5">
            <a:alphaModFix/>
          </a:blip>
          <a:srcRect b="0" l="22185" r="0" t="0"/>
          <a:stretch/>
        </p:blipFill>
        <p:spPr>
          <a:xfrm>
            <a:off x="571500" y="2172444"/>
            <a:ext cx="5238752" cy="3333751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6381750" y="1911548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Visualizing Model Trust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6381750" y="2395388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dashboard provides granular insight into model behavior: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6657975" y="3195488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6762750" y="3195488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Predicted vs. Actual: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Scatter plots aggregating all 5 CV folds to visualize accuracy against the 1:1 line.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6657975" y="3947963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6762750" y="3947963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Feature Importance: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Permutation importance charts highlight which spectral bands drive the model's decisions.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6657975" y="5005238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6762750" y="5005238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Downloadable Artifacts: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Users can export plots, model objects (.pkl), and logs.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Interactive Diagnostics</a:t>
            </a:r>
            <a:endParaRPr/>
          </a:p>
        </p:txBody>
      </p:sp>
      <p:sp>
        <p:nvSpPr>
          <p:cNvPr id="254" name="Google Shape;254;p21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11220450" y="6524625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Visualization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3446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2"/>
          <p:cNvSpPr txBox="1"/>
          <p:nvPr/>
        </p:nvSpPr>
        <p:spPr>
          <a:xfrm>
            <a:off x="571500" y="1593502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Space Grotesk"/>
                <a:ea typeface="Space Grotesk"/>
                <a:cs typeface="Space Grotesk"/>
                <a:sym typeface="Space Grotesk"/>
              </a:rPr>
              <a:t>Summary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571500" y="207734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Spectral Soil Modeler successfully transforms a multi-day manual research task into a streamlined, automated workflow, enabling reproducible science.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571500" y="3372742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Space Grotesk"/>
                <a:ea typeface="Space Grotesk"/>
                <a:cs typeface="Space Grotesk"/>
                <a:sym typeface="Space Grotesk"/>
              </a:rPr>
              <a:t>Roadmap</a:t>
            </a:r>
            <a:endParaRPr/>
          </a:p>
        </p:txBody>
      </p:sp>
      <p:pic>
        <p:nvPicPr>
          <p:cNvPr id="265" name="Google Shape;265;p22"/>
          <p:cNvPicPr preferRelativeResize="0"/>
          <p:nvPr/>
        </p:nvPicPr>
        <p:blipFill rotWithShape="1">
          <a:blip r:embed="rId5">
            <a:alphaModFix/>
          </a:blip>
          <a:srcRect b="13636" l="0" r="0" t="13636"/>
          <a:stretch/>
        </p:blipFill>
        <p:spPr>
          <a:xfrm>
            <a:off x="6381750" y="1934467"/>
            <a:ext cx="5238749" cy="3810001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2"/>
          <p:cNvSpPr txBox="1"/>
          <p:nvPr/>
        </p:nvSpPr>
        <p:spPr>
          <a:xfrm>
            <a:off x="571500" y="3818483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Job Queue: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Implement Celery + Redis for robust concurrency.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571500" y="4570958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API Layer: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FastAPI endpoints for programmatic access.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571500" y="5323433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Cloud Registry: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S3 integration for long-term model versioning.</a:t>
            </a:r>
            <a:endParaRPr/>
          </a:p>
        </p:txBody>
      </p:sp>
      <p:pic>
        <p:nvPicPr>
          <p:cNvPr descr="image.png" id="269" name="Google Shape;26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75633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28108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380583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2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Conclusion &amp; Future Work</a:t>
            </a:r>
            <a:endParaRPr/>
          </a:p>
        </p:txBody>
      </p:sp>
      <p:sp>
        <p:nvSpPr>
          <p:cNvPr id="273" name="Google Shape;273;p22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11391900" y="6524625"/>
            <a:ext cx="5143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Roadmap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3"/>
          <p:cNvSpPr txBox="1"/>
          <p:nvPr/>
        </p:nvSpPr>
        <p:spPr>
          <a:xfrm>
            <a:off x="295275" y="1247775"/>
            <a:ext cx="116014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Q&amp;A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295275" y="2581275"/>
            <a:ext cx="11601450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 for your attention.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571500" y="3213645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Spectral Soil Modeler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Team 01</a:t>
            </a:r>
            <a:endParaRPr/>
          </a:p>
        </p:txBody>
      </p:sp>
      <p:pic>
        <p:nvPicPr>
          <p:cNvPr descr="image.png" id="283" name="Google Shape;28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10262" y="4585245"/>
            <a:ext cx="3714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3"/>
          <p:cNvSpPr txBox="1"/>
          <p:nvPr/>
        </p:nvSpPr>
        <p:spPr>
          <a:xfrm>
            <a:off x="4443412" y="5213895"/>
            <a:ext cx="33051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github.com/parv-the-coder/SSD-Soil_Modeler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